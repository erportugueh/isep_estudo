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59" r:id="rId7"/>
    <p:sldId id="267" r:id="rId8"/>
    <p:sldId id="276" r:id="rId9"/>
    <p:sldId id="278" r:id="rId10"/>
    <p:sldId id="280" r:id="rId11"/>
    <p:sldId id="277" r:id="rId12"/>
    <p:sldId id="281" r:id="rId13"/>
    <p:sldId id="282" r:id="rId14"/>
    <p:sldId id="283" r:id="rId15"/>
    <p:sldId id="275" r:id="rId1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130F3-942B-B6E8-806D-9C99D2B8739B}" v="160" dt="2025-12-21T17:14:08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4727D5-08DF-4A91-9863-54BC56173757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B81A5D-92F8-474B-8E0E-3AA4831A66A8}">
      <dgm:prSet/>
      <dgm:spPr/>
      <dgm:t>
        <a:bodyPr/>
        <a:lstStyle/>
        <a:p>
          <a:r>
            <a:rPr lang="en-GB">
              <a:latin typeface="Tenorite"/>
            </a:rPr>
            <a:t>Incremental validation</a:t>
          </a:r>
          <a:endParaRPr lang="en-US"/>
        </a:p>
      </dgm:t>
    </dgm:pt>
    <dgm:pt modelId="{90AC1B11-4125-4BFF-A0C1-8DB0EF2442B7}" type="parTrans" cxnId="{6384F38B-0806-455C-9EF0-DE05AE4600E7}">
      <dgm:prSet/>
      <dgm:spPr/>
      <dgm:t>
        <a:bodyPr/>
        <a:lstStyle/>
        <a:p>
          <a:endParaRPr lang="en-US"/>
        </a:p>
      </dgm:t>
    </dgm:pt>
    <dgm:pt modelId="{CE7E6B86-53C7-42CD-BE7B-018F1D153392}" type="sibTrans" cxnId="{6384F38B-0806-455C-9EF0-DE05AE4600E7}">
      <dgm:prSet/>
      <dgm:spPr/>
      <dgm:t>
        <a:bodyPr/>
        <a:lstStyle/>
        <a:p>
          <a:endParaRPr lang="en-US"/>
        </a:p>
      </dgm:t>
    </dgm:pt>
    <dgm:pt modelId="{B97B9D79-7DDF-4FD8-BDD9-2F0057B74CC8}">
      <dgm:prSet/>
      <dgm:spPr/>
      <dgm:t>
        <a:bodyPr/>
        <a:lstStyle/>
        <a:p>
          <a:r>
            <a:rPr lang="en-GB">
              <a:latin typeface="Tenorite"/>
            </a:rPr>
            <a:t>Hard Rules</a:t>
          </a:r>
          <a:endParaRPr lang="en-GB"/>
        </a:p>
      </dgm:t>
    </dgm:pt>
    <dgm:pt modelId="{6D50031B-A44B-47F0-9B88-ED9DB4B91F24}" type="parTrans" cxnId="{5A0F533E-25E4-4E6B-8E3C-4B314428F812}">
      <dgm:prSet/>
      <dgm:spPr/>
      <dgm:t>
        <a:bodyPr/>
        <a:lstStyle/>
        <a:p>
          <a:endParaRPr lang="en-US"/>
        </a:p>
      </dgm:t>
    </dgm:pt>
    <dgm:pt modelId="{67D08C01-669E-40DB-BBD0-8B80CB81BFBA}" type="sibTrans" cxnId="{5A0F533E-25E4-4E6B-8E3C-4B314428F812}">
      <dgm:prSet/>
      <dgm:spPr/>
      <dgm:t>
        <a:bodyPr/>
        <a:lstStyle/>
        <a:p>
          <a:endParaRPr lang="en-US"/>
        </a:p>
      </dgm:t>
    </dgm:pt>
    <dgm:pt modelId="{B07788DE-4B81-4011-AEFF-BB8C2FD43B32}">
      <dgm:prSet phldr="0"/>
      <dgm:spPr/>
      <dgm:t>
        <a:bodyPr/>
        <a:lstStyle/>
        <a:p>
          <a:r>
            <a:rPr lang="en-GB">
              <a:latin typeface="Tenorite"/>
            </a:rPr>
            <a:t>Soft Rules</a:t>
          </a:r>
          <a:endParaRPr lang="en-GB"/>
        </a:p>
      </dgm:t>
    </dgm:pt>
    <dgm:pt modelId="{5CCF0D14-2A09-4246-8A6A-A7AE890F20F6}" type="parTrans" cxnId="{7BE20545-29BF-4718-B1AF-249365FEC300}">
      <dgm:prSet/>
      <dgm:spPr/>
      <dgm:t>
        <a:bodyPr/>
        <a:lstStyle/>
        <a:p>
          <a:endParaRPr lang="en-US"/>
        </a:p>
      </dgm:t>
    </dgm:pt>
    <dgm:pt modelId="{EEB550B7-F488-48B5-82EA-71C900F6237E}" type="sibTrans" cxnId="{7BE20545-29BF-4718-B1AF-249365FEC300}">
      <dgm:prSet/>
      <dgm:spPr/>
      <dgm:t>
        <a:bodyPr/>
        <a:lstStyle/>
        <a:p>
          <a:endParaRPr lang="en-US"/>
        </a:p>
      </dgm:t>
    </dgm:pt>
    <dgm:pt modelId="{8263684F-D4AB-487C-B915-AE563FC13AEB}">
      <dgm:prSet phldr="0"/>
      <dgm:spPr/>
      <dgm:t>
        <a:bodyPr/>
        <a:lstStyle/>
        <a:p>
          <a:r>
            <a:rPr lang="en-GB">
              <a:latin typeface="Tenorite"/>
            </a:rPr>
            <a:t>No over-cleaning</a:t>
          </a:r>
          <a:endParaRPr lang="en-GB"/>
        </a:p>
      </dgm:t>
    </dgm:pt>
    <dgm:pt modelId="{E0F741C4-C1C8-4B7B-8A27-9E02259A13C8}" type="parTrans" cxnId="{0668D0ED-5361-4EDE-B018-F03D6BFA8413}">
      <dgm:prSet/>
      <dgm:spPr/>
      <dgm:t>
        <a:bodyPr/>
        <a:lstStyle/>
        <a:p>
          <a:endParaRPr lang="en-US"/>
        </a:p>
      </dgm:t>
    </dgm:pt>
    <dgm:pt modelId="{AC687F1C-E483-44BC-9E8F-9BC058BEE9E9}" type="sibTrans" cxnId="{0668D0ED-5361-4EDE-B018-F03D6BFA8413}">
      <dgm:prSet/>
      <dgm:spPr/>
      <dgm:t>
        <a:bodyPr/>
        <a:lstStyle/>
        <a:p>
          <a:endParaRPr lang="en-US"/>
        </a:p>
      </dgm:t>
    </dgm:pt>
    <dgm:pt modelId="{423BFED7-BC72-435A-89E0-1BFB49AFCBED}">
      <dgm:prSet/>
      <dgm:spPr/>
      <dgm:t>
        <a:bodyPr/>
        <a:lstStyle/>
        <a:p>
          <a:r>
            <a:rPr lang="en-GB">
              <a:latin typeface="Tenorite"/>
            </a:rPr>
            <a:t>Regional vs global sales consistency</a:t>
          </a:r>
          <a:endParaRPr lang="en-US"/>
        </a:p>
      </dgm:t>
    </dgm:pt>
    <dgm:pt modelId="{449E4BE6-3201-450D-9066-8727910E8294}" type="parTrans" cxnId="{338E1515-F7A7-47A9-8785-2CC7BBB0CBBA}">
      <dgm:prSet/>
      <dgm:spPr/>
      <dgm:t>
        <a:bodyPr/>
        <a:lstStyle/>
        <a:p>
          <a:endParaRPr lang="en-US"/>
        </a:p>
      </dgm:t>
    </dgm:pt>
    <dgm:pt modelId="{586F8F25-560B-4C0B-89D9-F9BD48FE5972}" type="sibTrans" cxnId="{338E1515-F7A7-47A9-8785-2CC7BBB0CBBA}">
      <dgm:prSet/>
      <dgm:spPr/>
      <dgm:t>
        <a:bodyPr/>
        <a:lstStyle/>
        <a:p>
          <a:endParaRPr lang="en-US"/>
        </a:p>
      </dgm:t>
    </dgm:pt>
    <dgm:pt modelId="{6725DAC5-C4F5-4412-A65C-BDE27F6C011D}">
      <dgm:prSet phldr="0"/>
      <dgm:spPr/>
      <dgm:t>
        <a:bodyPr/>
        <a:lstStyle/>
        <a:p>
          <a:r>
            <a:rPr lang="en-GB">
              <a:latin typeface="Tenorite"/>
            </a:rPr>
            <a:t>Duplicate Removal</a:t>
          </a:r>
          <a:endParaRPr lang="en-GB"/>
        </a:p>
      </dgm:t>
    </dgm:pt>
    <dgm:pt modelId="{A06B5792-69D8-459E-BFD8-D3BB41EE9A36}" type="parTrans" cxnId="{6EEB51F2-EF18-4444-82B9-CD5F3781732B}">
      <dgm:prSet/>
      <dgm:spPr/>
      <dgm:t>
        <a:bodyPr/>
        <a:lstStyle/>
        <a:p>
          <a:endParaRPr lang="en-US"/>
        </a:p>
      </dgm:t>
    </dgm:pt>
    <dgm:pt modelId="{72CA8E88-29D8-4B29-B3CD-1A61C8021DE7}" type="sibTrans" cxnId="{6EEB51F2-EF18-4444-82B9-CD5F3781732B}">
      <dgm:prSet/>
      <dgm:spPr/>
      <dgm:t>
        <a:bodyPr/>
        <a:lstStyle/>
        <a:p>
          <a:endParaRPr lang="en-US"/>
        </a:p>
      </dgm:t>
    </dgm:pt>
    <dgm:pt modelId="{1B0230EE-5BFF-4A13-A654-44F7ECE04E58}">
      <dgm:prSet phldr="0"/>
      <dgm:spPr/>
      <dgm:t>
        <a:bodyPr/>
        <a:lstStyle/>
        <a:p>
          <a:r>
            <a:rPr lang="en-GB">
              <a:latin typeface="Tenorite"/>
            </a:rPr>
            <a:t>Platform Normalization</a:t>
          </a:r>
        </a:p>
      </dgm:t>
    </dgm:pt>
    <dgm:pt modelId="{C2345BFD-51F2-464F-96AA-FA6038501767}" type="parTrans" cxnId="{3136C37A-DEC2-45DD-A7F0-1F05CA2A4840}">
      <dgm:prSet/>
      <dgm:spPr/>
    </dgm:pt>
    <dgm:pt modelId="{D3E7A9FB-E284-4D6B-923D-70B75DEBA855}" type="sibTrans" cxnId="{3136C37A-DEC2-45DD-A7F0-1F05CA2A4840}">
      <dgm:prSet/>
      <dgm:spPr/>
      <dgm:t>
        <a:bodyPr/>
        <a:lstStyle/>
        <a:p>
          <a:endParaRPr lang="en-GB"/>
        </a:p>
      </dgm:t>
    </dgm:pt>
    <dgm:pt modelId="{AC79CDAF-ABC6-4DBC-8CF6-DAD11956A773}" type="pres">
      <dgm:prSet presAssocID="{7A4727D5-08DF-4A91-9863-54BC56173757}" presName="linear" presStyleCnt="0">
        <dgm:presLayoutVars>
          <dgm:animLvl val="lvl"/>
          <dgm:resizeHandles val="exact"/>
        </dgm:presLayoutVars>
      </dgm:prSet>
      <dgm:spPr/>
    </dgm:pt>
    <dgm:pt modelId="{3D754C50-EC66-4F42-9992-48FCA3FEFE7D}" type="pres">
      <dgm:prSet presAssocID="{A8B81A5D-92F8-474B-8E0E-3AA4831A66A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F1E6C3F-A352-489E-9C96-E5DAAC035355}" type="pres">
      <dgm:prSet presAssocID="{CE7E6B86-53C7-42CD-BE7B-018F1D153392}" presName="spacer" presStyleCnt="0"/>
      <dgm:spPr/>
    </dgm:pt>
    <dgm:pt modelId="{E3857E7F-F957-42AE-BF13-148CB3641B1F}" type="pres">
      <dgm:prSet presAssocID="{B97B9D79-7DDF-4FD8-BDD9-2F0057B74CC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D2268895-8D2D-4EA9-9A22-567416FBF614}" type="pres">
      <dgm:prSet presAssocID="{67D08C01-669E-40DB-BBD0-8B80CB81BFBA}" presName="spacer" presStyleCnt="0"/>
      <dgm:spPr/>
    </dgm:pt>
    <dgm:pt modelId="{9CCC3689-CF9B-4CF9-9D61-5BC53F325F9A}" type="pres">
      <dgm:prSet presAssocID="{B07788DE-4B81-4011-AEFF-BB8C2FD43B3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3B69EB8-8AC2-4B34-AE54-A05DD7407EC0}" type="pres">
      <dgm:prSet presAssocID="{EEB550B7-F488-48B5-82EA-71C900F6237E}" presName="spacer" presStyleCnt="0"/>
      <dgm:spPr/>
    </dgm:pt>
    <dgm:pt modelId="{5EE2D0F8-6B22-4C65-81BA-C47020BBAAB5}" type="pres">
      <dgm:prSet presAssocID="{8263684F-D4AB-487C-B915-AE563FC13AE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39B0D5E-675A-4B76-B52B-36B4EEFE10A8}" type="pres">
      <dgm:prSet presAssocID="{AC687F1C-E483-44BC-9E8F-9BC058BEE9E9}" presName="spacer" presStyleCnt="0"/>
      <dgm:spPr/>
    </dgm:pt>
    <dgm:pt modelId="{15170A97-DECC-4720-93B1-99FB4B7598A1}" type="pres">
      <dgm:prSet presAssocID="{423BFED7-BC72-435A-89E0-1BFB49AFCBE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226F0B5-37FE-4D5B-9DB9-1F26CEBA6F55}" type="pres">
      <dgm:prSet presAssocID="{586F8F25-560B-4C0B-89D9-F9BD48FE5972}" presName="spacer" presStyleCnt="0"/>
      <dgm:spPr/>
    </dgm:pt>
    <dgm:pt modelId="{77AA7122-3318-4ADD-B6E5-42688458D46C}" type="pres">
      <dgm:prSet presAssocID="{6725DAC5-C4F5-4412-A65C-BDE27F6C011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AB78A0A-D3FE-4991-9768-8A6B25A5DC04}" type="pres">
      <dgm:prSet presAssocID="{72CA8E88-29D8-4B29-B3CD-1A61C8021DE7}" presName="spacer" presStyleCnt="0"/>
      <dgm:spPr/>
    </dgm:pt>
    <dgm:pt modelId="{D84E591D-A2E5-4295-B366-2EE9513DC0BB}" type="pres">
      <dgm:prSet presAssocID="{1B0230EE-5BFF-4A13-A654-44F7ECE04E5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38E1515-F7A7-47A9-8785-2CC7BBB0CBBA}" srcId="{7A4727D5-08DF-4A91-9863-54BC56173757}" destId="{423BFED7-BC72-435A-89E0-1BFB49AFCBED}" srcOrd="4" destOrd="0" parTransId="{449E4BE6-3201-450D-9066-8727910E8294}" sibTransId="{586F8F25-560B-4C0B-89D9-F9BD48FE5972}"/>
    <dgm:cxn modelId="{2F91171A-8E54-4FC7-BBF6-6D84ACED6B8F}" type="presOf" srcId="{7A4727D5-08DF-4A91-9863-54BC56173757}" destId="{AC79CDAF-ABC6-4DBC-8CF6-DAD11956A773}" srcOrd="0" destOrd="0" presId="urn:microsoft.com/office/officeart/2005/8/layout/vList2"/>
    <dgm:cxn modelId="{8E687D30-53D2-4E3D-AA7A-85156A435741}" type="presOf" srcId="{1B0230EE-5BFF-4A13-A654-44F7ECE04E58}" destId="{D84E591D-A2E5-4295-B366-2EE9513DC0BB}" srcOrd="0" destOrd="0" presId="urn:microsoft.com/office/officeart/2005/8/layout/vList2"/>
    <dgm:cxn modelId="{796F9E36-C01E-4C16-9FBF-A738D59EBD5B}" type="presOf" srcId="{8263684F-D4AB-487C-B915-AE563FC13AEB}" destId="{5EE2D0F8-6B22-4C65-81BA-C47020BBAAB5}" srcOrd="0" destOrd="0" presId="urn:microsoft.com/office/officeart/2005/8/layout/vList2"/>
    <dgm:cxn modelId="{5A0F533E-25E4-4E6B-8E3C-4B314428F812}" srcId="{7A4727D5-08DF-4A91-9863-54BC56173757}" destId="{B97B9D79-7DDF-4FD8-BDD9-2F0057B74CC8}" srcOrd="1" destOrd="0" parTransId="{6D50031B-A44B-47F0-9B88-ED9DB4B91F24}" sibTransId="{67D08C01-669E-40DB-BBD0-8B80CB81BFBA}"/>
    <dgm:cxn modelId="{7BE20545-29BF-4718-B1AF-249365FEC300}" srcId="{7A4727D5-08DF-4A91-9863-54BC56173757}" destId="{B07788DE-4B81-4011-AEFF-BB8C2FD43B32}" srcOrd="2" destOrd="0" parTransId="{5CCF0D14-2A09-4246-8A6A-A7AE890F20F6}" sibTransId="{EEB550B7-F488-48B5-82EA-71C900F6237E}"/>
    <dgm:cxn modelId="{7B4F2073-B027-49F8-A2CD-394F1C64C1A1}" type="presOf" srcId="{A8B81A5D-92F8-474B-8E0E-3AA4831A66A8}" destId="{3D754C50-EC66-4F42-9992-48FCA3FEFE7D}" srcOrd="0" destOrd="0" presId="urn:microsoft.com/office/officeart/2005/8/layout/vList2"/>
    <dgm:cxn modelId="{4FA3EB74-F505-45FA-9AC1-A0D06E047609}" type="presOf" srcId="{B07788DE-4B81-4011-AEFF-BB8C2FD43B32}" destId="{9CCC3689-CF9B-4CF9-9D61-5BC53F325F9A}" srcOrd="0" destOrd="0" presId="urn:microsoft.com/office/officeart/2005/8/layout/vList2"/>
    <dgm:cxn modelId="{3136C37A-DEC2-45DD-A7F0-1F05CA2A4840}" srcId="{7A4727D5-08DF-4A91-9863-54BC56173757}" destId="{1B0230EE-5BFF-4A13-A654-44F7ECE04E58}" srcOrd="6" destOrd="0" parTransId="{C2345BFD-51F2-464F-96AA-FA6038501767}" sibTransId="{D3E7A9FB-E284-4D6B-923D-70B75DEBA855}"/>
    <dgm:cxn modelId="{6384F38B-0806-455C-9EF0-DE05AE4600E7}" srcId="{7A4727D5-08DF-4A91-9863-54BC56173757}" destId="{A8B81A5D-92F8-474B-8E0E-3AA4831A66A8}" srcOrd="0" destOrd="0" parTransId="{90AC1B11-4125-4BFF-A0C1-8DB0EF2442B7}" sibTransId="{CE7E6B86-53C7-42CD-BE7B-018F1D153392}"/>
    <dgm:cxn modelId="{0D9E159D-F1DD-4C12-AD55-B998774E4625}" type="presOf" srcId="{6725DAC5-C4F5-4412-A65C-BDE27F6C011D}" destId="{77AA7122-3318-4ADD-B6E5-42688458D46C}" srcOrd="0" destOrd="0" presId="urn:microsoft.com/office/officeart/2005/8/layout/vList2"/>
    <dgm:cxn modelId="{42B53A9F-E8B0-4106-8250-AC0C5F06D484}" type="presOf" srcId="{423BFED7-BC72-435A-89E0-1BFB49AFCBED}" destId="{15170A97-DECC-4720-93B1-99FB4B7598A1}" srcOrd="0" destOrd="0" presId="urn:microsoft.com/office/officeart/2005/8/layout/vList2"/>
    <dgm:cxn modelId="{3FE7BDE5-C033-402B-B84C-48169E6A7C3B}" type="presOf" srcId="{B97B9D79-7DDF-4FD8-BDD9-2F0057B74CC8}" destId="{E3857E7F-F957-42AE-BF13-148CB3641B1F}" srcOrd="0" destOrd="0" presId="urn:microsoft.com/office/officeart/2005/8/layout/vList2"/>
    <dgm:cxn modelId="{0668D0ED-5361-4EDE-B018-F03D6BFA8413}" srcId="{7A4727D5-08DF-4A91-9863-54BC56173757}" destId="{8263684F-D4AB-487C-B915-AE563FC13AEB}" srcOrd="3" destOrd="0" parTransId="{E0F741C4-C1C8-4B7B-8A27-9E02259A13C8}" sibTransId="{AC687F1C-E483-44BC-9E8F-9BC058BEE9E9}"/>
    <dgm:cxn modelId="{6EEB51F2-EF18-4444-82B9-CD5F3781732B}" srcId="{7A4727D5-08DF-4A91-9863-54BC56173757}" destId="{6725DAC5-C4F5-4412-A65C-BDE27F6C011D}" srcOrd="5" destOrd="0" parTransId="{A06B5792-69D8-459E-BFD8-D3BB41EE9A36}" sibTransId="{72CA8E88-29D8-4B29-B3CD-1A61C8021DE7}"/>
    <dgm:cxn modelId="{83D552FD-357D-4296-BFD3-C4B7CF5C5C59}" type="presParOf" srcId="{AC79CDAF-ABC6-4DBC-8CF6-DAD11956A773}" destId="{3D754C50-EC66-4F42-9992-48FCA3FEFE7D}" srcOrd="0" destOrd="0" presId="urn:microsoft.com/office/officeart/2005/8/layout/vList2"/>
    <dgm:cxn modelId="{6D5654AB-60B6-4A21-8563-4E611A9FBDEE}" type="presParOf" srcId="{AC79CDAF-ABC6-4DBC-8CF6-DAD11956A773}" destId="{0F1E6C3F-A352-489E-9C96-E5DAAC035355}" srcOrd="1" destOrd="0" presId="urn:microsoft.com/office/officeart/2005/8/layout/vList2"/>
    <dgm:cxn modelId="{8AF8680D-5CCD-4519-8D6B-852D995E4DAB}" type="presParOf" srcId="{AC79CDAF-ABC6-4DBC-8CF6-DAD11956A773}" destId="{E3857E7F-F957-42AE-BF13-148CB3641B1F}" srcOrd="2" destOrd="0" presId="urn:microsoft.com/office/officeart/2005/8/layout/vList2"/>
    <dgm:cxn modelId="{DBBB792C-0DF7-467C-9F97-6023BB609025}" type="presParOf" srcId="{AC79CDAF-ABC6-4DBC-8CF6-DAD11956A773}" destId="{D2268895-8D2D-4EA9-9A22-567416FBF614}" srcOrd="3" destOrd="0" presId="urn:microsoft.com/office/officeart/2005/8/layout/vList2"/>
    <dgm:cxn modelId="{60BF101D-1084-4FFD-9631-EC4331238DBF}" type="presParOf" srcId="{AC79CDAF-ABC6-4DBC-8CF6-DAD11956A773}" destId="{9CCC3689-CF9B-4CF9-9D61-5BC53F325F9A}" srcOrd="4" destOrd="0" presId="urn:microsoft.com/office/officeart/2005/8/layout/vList2"/>
    <dgm:cxn modelId="{96B41A64-2C35-418B-B449-DE6EC043B109}" type="presParOf" srcId="{AC79CDAF-ABC6-4DBC-8CF6-DAD11956A773}" destId="{23B69EB8-8AC2-4B34-AE54-A05DD7407EC0}" srcOrd="5" destOrd="0" presId="urn:microsoft.com/office/officeart/2005/8/layout/vList2"/>
    <dgm:cxn modelId="{BEB12CE2-FDFA-488E-96F3-B6EED4F783F2}" type="presParOf" srcId="{AC79CDAF-ABC6-4DBC-8CF6-DAD11956A773}" destId="{5EE2D0F8-6B22-4C65-81BA-C47020BBAAB5}" srcOrd="6" destOrd="0" presId="urn:microsoft.com/office/officeart/2005/8/layout/vList2"/>
    <dgm:cxn modelId="{E6A7448E-861D-4FEB-818E-B7656338CB0C}" type="presParOf" srcId="{AC79CDAF-ABC6-4DBC-8CF6-DAD11956A773}" destId="{B39B0D5E-675A-4B76-B52B-36B4EEFE10A8}" srcOrd="7" destOrd="0" presId="urn:microsoft.com/office/officeart/2005/8/layout/vList2"/>
    <dgm:cxn modelId="{F5110382-BA54-4F94-8DDB-102E1FBC58AA}" type="presParOf" srcId="{AC79CDAF-ABC6-4DBC-8CF6-DAD11956A773}" destId="{15170A97-DECC-4720-93B1-99FB4B7598A1}" srcOrd="8" destOrd="0" presId="urn:microsoft.com/office/officeart/2005/8/layout/vList2"/>
    <dgm:cxn modelId="{1C871F3B-5654-4EEF-A0DF-950A67D275F8}" type="presParOf" srcId="{AC79CDAF-ABC6-4DBC-8CF6-DAD11956A773}" destId="{B226F0B5-37FE-4D5B-9DB9-1F26CEBA6F55}" srcOrd="9" destOrd="0" presId="urn:microsoft.com/office/officeart/2005/8/layout/vList2"/>
    <dgm:cxn modelId="{4E898E52-0F96-4BE1-8048-6E52EAD09B19}" type="presParOf" srcId="{AC79CDAF-ABC6-4DBC-8CF6-DAD11956A773}" destId="{77AA7122-3318-4ADD-B6E5-42688458D46C}" srcOrd="10" destOrd="0" presId="urn:microsoft.com/office/officeart/2005/8/layout/vList2"/>
    <dgm:cxn modelId="{06E00DC4-6EDD-4306-BE91-FCD3FF948571}" type="presParOf" srcId="{AC79CDAF-ABC6-4DBC-8CF6-DAD11956A773}" destId="{5AB78A0A-D3FE-4991-9768-8A6B25A5DC04}" srcOrd="11" destOrd="0" presId="urn:microsoft.com/office/officeart/2005/8/layout/vList2"/>
    <dgm:cxn modelId="{E078AFEA-D7CA-4D75-8EFE-CD11A686AA4A}" type="presParOf" srcId="{AC79CDAF-ABC6-4DBC-8CF6-DAD11956A773}" destId="{D84E591D-A2E5-4295-B366-2EE9513DC0B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54C50-EC66-4F42-9992-48FCA3FEFE7D}">
      <dsp:nvSpPr>
        <dsp:cNvPr id="0" name=""/>
        <dsp:cNvSpPr/>
      </dsp:nvSpPr>
      <dsp:spPr>
        <a:xfrm>
          <a:off x="0" y="1683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Incremental validation</a:t>
          </a:r>
          <a:endParaRPr lang="en-US" sz="1800" kern="1200"/>
        </a:p>
      </dsp:txBody>
      <dsp:txXfrm>
        <a:off x="21075" y="37907"/>
        <a:ext cx="9737032" cy="389580"/>
      </dsp:txXfrm>
    </dsp:sp>
    <dsp:sp modelId="{E3857E7F-F957-42AE-BF13-148CB3641B1F}">
      <dsp:nvSpPr>
        <dsp:cNvPr id="0" name=""/>
        <dsp:cNvSpPr/>
      </dsp:nvSpPr>
      <dsp:spPr>
        <a:xfrm>
          <a:off x="0" y="50040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Hard Rules</a:t>
          </a:r>
          <a:endParaRPr lang="en-GB" sz="1800" kern="1200"/>
        </a:p>
      </dsp:txBody>
      <dsp:txXfrm>
        <a:off x="21075" y="521477"/>
        <a:ext cx="9737032" cy="389580"/>
      </dsp:txXfrm>
    </dsp:sp>
    <dsp:sp modelId="{9CCC3689-CF9B-4CF9-9D61-5BC53F325F9A}">
      <dsp:nvSpPr>
        <dsp:cNvPr id="0" name=""/>
        <dsp:cNvSpPr/>
      </dsp:nvSpPr>
      <dsp:spPr>
        <a:xfrm>
          <a:off x="0" y="98397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Soft Rules</a:t>
          </a:r>
          <a:endParaRPr lang="en-GB" sz="1800" kern="1200"/>
        </a:p>
      </dsp:txBody>
      <dsp:txXfrm>
        <a:off x="21075" y="1005047"/>
        <a:ext cx="9737032" cy="389580"/>
      </dsp:txXfrm>
    </dsp:sp>
    <dsp:sp modelId="{5EE2D0F8-6B22-4C65-81BA-C47020BBAAB5}">
      <dsp:nvSpPr>
        <dsp:cNvPr id="0" name=""/>
        <dsp:cNvSpPr/>
      </dsp:nvSpPr>
      <dsp:spPr>
        <a:xfrm>
          <a:off x="0" y="146754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No over-cleaning</a:t>
          </a:r>
          <a:endParaRPr lang="en-GB" sz="1800" kern="1200"/>
        </a:p>
      </dsp:txBody>
      <dsp:txXfrm>
        <a:off x="21075" y="1488617"/>
        <a:ext cx="9737032" cy="389580"/>
      </dsp:txXfrm>
    </dsp:sp>
    <dsp:sp modelId="{15170A97-DECC-4720-93B1-99FB4B7598A1}">
      <dsp:nvSpPr>
        <dsp:cNvPr id="0" name=""/>
        <dsp:cNvSpPr/>
      </dsp:nvSpPr>
      <dsp:spPr>
        <a:xfrm>
          <a:off x="0" y="195111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Regional vs global sales consistency</a:t>
          </a:r>
          <a:endParaRPr lang="en-US" sz="1800" kern="1200"/>
        </a:p>
      </dsp:txBody>
      <dsp:txXfrm>
        <a:off x="21075" y="1972187"/>
        <a:ext cx="9737032" cy="389580"/>
      </dsp:txXfrm>
    </dsp:sp>
    <dsp:sp modelId="{77AA7122-3318-4ADD-B6E5-42688458D46C}">
      <dsp:nvSpPr>
        <dsp:cNvPr id="0" name=""/>
        <dsp:cNvSpPr/>
      </dsp:nvSpPr>
      <dsp:spPr>
        <a:xfrm>
          <a:off x="0" y="243468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Duplicate Removal</a:t>
          </a:r>
          <a:endParaRPr lang="en-GB" sz="1800" kern="1200"/>
        </a:p>
      </dsp:txBody>
      <dsp:txXfrm>
        <a:off x="21075" y="2455757"/>
        <a:ext cx="9737032" cy="389580"/>
      </dsp:txXfrm>
    </dsp:sp>
    <dsp:sp modelId="{D84E591D-A2E5-4295-B366-2EE9513DC0BB}">
      <dsp:nvSpPr>
        <dsp:cNvPr id="0" name=""/>
        <dsp:cNvSpPr/>
      </dsp:nvSpPr>
      <dsp:spPr>
        <a:xfrm>
          <a:off x="0" y="2918252"/>
          <a:ext cx="9779182" cy="43173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Tenorite"/>
            </a:rPr>
            <a:t>Platform Normalization</a:t>
          </a:r>
        </a:p>
      </dsp:txBody>
      <dsp:txXfrm>
        <a:off x="21075" y="2939327"/>
        <a:ext cx="9737032" cy="389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21/12/2025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21/12/2025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70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28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279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FF8C-2DCE-95AA-5B06-F50570F2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EEF3C-D3F5-419F-217E-2D476F44D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C50C7-A2E3-3940-267E-5A18CDC3C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B2C25-1E12-4975-23F6-0195FAF50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036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EC080-ABAF-5654-D359-ED7ABEEC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41D38-D0B1-11F5-025A-47A8FBF3A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17FA7-E2F1-BC81-1F6A-FCAC28FC4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A234E-2454-6DA8-BD6A-34E4E74B4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520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1962-542F-B891-2F24-16A72F52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5EC5A-5E91-454F-C02D-6972CA230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0E4A4-F61B-62F8-9BD8-D655F8CF5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501E7-744E-90F2-5709-41AC87A60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85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8571-F3C7-D865-F599-27854ACF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384ED-46A3-1170-426E-77F4AF663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2CD1B-E823-BEEF-9481-C56943B12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9254C-09BF-317F-ACC4-044FFC375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692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E775-C364-B466-51D9-75FC01BE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BAAA8-D255-C633-CC3E-E592E5864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C11CE-7987-2472-B9B2-CE311FAB1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8168D-CCBE-42FD-A355-DD225F848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560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21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21/12/2025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878" y="3300470"/>
            <a:ext cx="9779183" cy="1325563"/>
          </a:xfrm>
        </p:spPr>
        <p:txBody>
          <a:bodyPr rtlCol="0" anchor="b">
            <a:normAutofit/>
          </a:bodyPr>
          <a:lstStyle/>
          <a:p>
            <a:r>
              <a:rPr lang="en-GB" sz="3700" b="0" dirty="0">
                <a:solidFill>
                  <a:schemeClr val="bg1"/>
                </a:solidFill>
              </a:rPr>
              <a:t>Economic Impact of Video Games:</a:t>
            </a:r>
            <a:endParaRPr lang="en-US" sz="3700" dirty="0">
              <a:solidFill>
                <a:schemeClr val="bg1"/>
              </a:solidFill>
            </a:endParaRPr>
          </a:p>
          <a:p>
            <a:r>
              <a:rPr lang="en-GB" sz="3700" b="0" dirty="0">
                <a:solidFill>
                  <a:schemeClr val="bg1"/>
                </a:solidFill>
              </a:rPr>
              <a:t>A Big Data Approach Using Global Sales Data</a:t>
            </a:r>
            <a:endParaRPr lang="en-GB" sz="37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45956" y="4500174"/>
            <a:ext cx="3173279" cy="28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Vasco Silva-1240499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F25E7506-B8EB-4E6A-59ED-55C33733C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44" y="187880"/>
            <a:ext cx="8594558" cy="2810460"/>
          </a:xfrm>
        </p:spPr>
        <p:txBody>
          <a:bodyPr rtlCol="0" anchor="ctr">
            <a:normAutofit/>
          </a:bodyPr>
          <a:lstStyle/>
          <a:p>
            <a:r>
              <a:rPr lang="en-GB" dirty="0">
                <a:ea typeface="+mj-lt"/>
                <a:cs typeface="+mj-lt"/>
              </a:rPr>
              <a:t>Context &amp; Objectives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38AFD11-A6A7-378F-CD8C-9AC816FE98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519405"/>
            <a:ext cx="1363663" cy="4967287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337F306-6915-72AA-800D-B0D0C7C7F8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09104" y="3399692"/>
            <a:ext cx="1364297" cy="109452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2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2BD78-EBB6-E672-579D-08AE2F8A5074}"/>
              </a:ext>
            </a:extLst>
          </p:cNvPr>
          <p:cNvSpPr txBox="1"/>
          <p:nvPr/>
        </p:nvSpPr>
        <p:spPr>
          <a:xfrm>
            <a:off x="1735519" y="2036066"/>
            <a:ext cx="790276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Video games evolved into a multi-billion dollar global industry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Traditional analysis struggles with scale, heterogeneity, and temporal depth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Objective: </a:t>
            </a:r>
            <a:r>
              <a:rPr lang="en-GB" b="1" dirty="0">
                <a:solidFill>
                  <a:schemeClr val="bg1"/>
                </a:solidFill>
                <a:ea typeface="+mn-lt"/>
                <a:cs typeface="+mn-lt"/>
              </a:rPr>
              <a:t>design and validate a Big Data pipeline</a:t>
            </a: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 to </a:t>
            </a:r>
            <a:r>
              <a:rPr lang="en-GB" err="1">
                <a:solidFill>
                  <a:schemeClr val="bg1"/>
                </a:solidFill>
                <a:ea typeface="+mn-lt"/>
                <a:cs typeface="+mn-lt"/>
              </a:rPr>
              <a:t>analyze</a:t>
            </a: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 long-term industry trends</a:t>
            </a:r>
            <a:endParaRPr lang="en-GB" dirty="0">
              <a:solidFill>
                <a:schemeClr val="bg1"/>
              </a:solidFill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r>
              <a:rPr lang="en-GB" dirty="0"/>
              <a:t>Literature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800" dirty="0">
                <a:ea typeface="+mn-lt"/>
                <a:cs typeface="+mn-lt"/>
              </a:rPr>
              <a:t>Prior studies focus on:</a:t>
            </a:r>
            <a:endParaRPr lang="en-US" sz="1800" dirty="0"/>
          </a:p>
          <a:p>
            <a:pPr marL="742950" lvl="1" indent="-285750" algn="l">
              <a:buFont typeface="Courier New"/>
              <a:buChar char="o"/>
            </a:pPr>
            <a:r>
              <a:rPr lang="en-GB" sz="1800" dirty="0">
                <a:solidFill>
                  <a:srgbClr val="FFFFFF"/>
                </a:solidFill>
                <a:ea typeface="+mn-lt"/>
                <a:cs typeface="+mn-lt"/>
              </a:rPr>
              <a:t>Console life cycles</a:t>
            </a:r>
            <a:endParaRPr lang="en-GB" sz="1800" dirty="0">
              <a:solidFill>
                <a:srgbClr val="FFFFFF"/>
              </a:solidFill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GB" sz="1800" dirty="0">
                <a:solidFill>
                  <a:srgbClr val="FFFFFF"/>
                </a:solidFill>
                <a:ea typeface="+mn-lt"/>
                <a:cs typeface="+mn-lt"/>
              </a:rPr>
              <a:t>Genre dominance</a:t>
            </a:r>
            <a:endParaRPr lang="en-GB" sz="1800" dirty="0">
              <a:solidFill>
                <a:srgbClr val="FFFFFF"/>
              </a:solidFill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GB" sz="1800" dirty="0">
                <a:solidFill>
                  <a:srgbClr val="FFFFFF"/>
                </a:solidFill>
                <a:ea typeface="+mn-lt"/>
                <a:cs typeface="+mn-lt"/>
              </a:rPr>
              <a:t>Regional markets</a:t>
            </a:r>
            <a:endParaRPr lang="en-US" sz="18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800" dirty="0">
                <a:ea typeface="+mn-lt"/>
                <a:cs typeface="+mn-lt"/>
              </a:rPr>
              <a:t>Industry reports (</a:t>
            </a:r>
            <a:r>
              <a:rPr lang="en-GB" sz="1800" dirty="0" err="1">
                <a:ea typeface="+mn-lt"/>
                <a:cs typeface="+mn-lt"/>
              </a:rPr>
              <a:t>Newzoo</a:t>
            </a:r>
            <a:r>
              <a:rPr lang="en-GB" sz="1800" dirty="0">
                <a:ea typeface="+mn-lt"/>
                <a:cs typeface="+mn-lt"/>
              </a:rPr>
              <a:t>, Visual Capitalist) show revenue growth but lack transparent pipelines</a:t>
            </a:r>
            <a:endParaRPr lang="en-GB" sz="1800" dirty="0"/>
          </a:p>
          <a:p>
            <a:pPr marL="285750" indent="-285750">
              <a:buFont typeface="Arial"/>
              <a:buChar char="•"/>
            </a:pPr>
            <a:r>
              <a:rPr lang="en-GB" sz="1800" b="1" dirty="0">
                <a:ea typeface="+mn-lt"/>
                <a:cs typeface="+mn-lt"/>
              </a:rPr>
              <a:t>Gap:</a:t>
            </a:r>
            <a:r>
              <a:rPr lang="en-GB" sz="1800" dirty="0">
                <a:ea typeface="+mn-lt"/>
                <a:cs typeface="+mn-lt"/>
              </a:rPr>
              <a:t> Limited reproducible, scalable analytical pipelines</a:t>
            </a: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rmAutofit/>
          </a:bodyPr>
          <a:lstStyle/>
          <a:p>
            <a:r>
              <a:rPr lang="en-GB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Source: Video Game Sales (1978–2024)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Records: ~70k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Key attributes:</a:t>
            </a:r>
            <a:endParaRPr lang="en-GB" dirty="0"/>
          </a:p>
          <a:p>
            <a:pPr marL="742950" lvl="1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Year, Platform, Genre</a:t>
            </a:r>
            <a:endParaRPr lang="en-GB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Regional sales (NA, PAL, JP, Other)</a:t>
            </a:r>
            <a:endParaRPr lang="en-GB" dirty="0"/>
          </a:p>
          <a:p>
            <a:pPr marL="742950" lvl="1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Global sales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Physical sales bias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No mobile-first revenue</a:t>
            </a:r>
            <a:endParaRPr lang="en-GB" dirty="0"/>
          </a:p>
          <a:p>
            <a:r>
              <a:rPr lang="en-GB" sz="2000" dirty="0"/>
              <a:t> </a:t>
            </a:r>
            <a:endParaRPr lang="en-GB" dirty="0"/>
          </a:p>
          <a:p>
            <a:endParaRPr lang="en-GB" sz="2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7362-01DC-0E4C-9B34-0DF3FD449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F481-B46A-8BA7-B709-6D01D6AA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6DC2-CAAD-3247-8794-8B16F0E2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ctr">
            <a:normAutofit/>
          </a:bodyPr>
          <a:lstStyle/>
          <a:p>
            <a:r>
              <a:rPr lang="en-GB" b="0"/>
              <a:t>Apache Spark and Colab</a:t>
            </a: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255AD40B-6936-BA75-76A1-951C2FC0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4794341" cy="336681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/>
              <a:t>Distributed processing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/>
              <a:t>Scales beyond pandas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/>
              <a:t>Built-in aggregation &amp; validation</a:t>
            </a:r>
            <a:endParaRPr lang="en-GB" dirty="0"/>
          </a:p>
          <a:p>
            <a:endParaRPr lang="en-GB" dirty="0"/>
          </a:p>
        </p:txBody>
      </p:sp>
      <p:sp>
        <p:nvSpPr>
          <p:cNvPr id="47" name="Footer Placeholder 3">
            <a:extLst>
              <a:ext uri="{FF2B5EF4-FFF2-40B4-BE49-F238E27FC236}">
                <a16:creationId xmlns:a16="http://schemas.microsoft.com/office/drawing/2014/main" id="{EB9B5BAE-13B5-E3CC-C425-F1D403796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698A7-4B67-5322-2D86-796168768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E42733-32C0-8512-D9BC-2E3E6616CD77}"/>
              </a:ext>
            </a:extLst>
          </p:cNvPr>
          <p:cNvSpPr txBox="1"/>
          <p:nvPr/>
        </p:nvSpPr>
        <p:spPr>
          <a:xfrm>
            <a:off x="6152334" y="2087563"/>
            <a:ext cx="4794341" cy="336681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85750">
              <a:spcAft>
                <a:spcPts val="600"/>
              </a:spcAft>
              <a:buFont typeface="Arial"/>
              <a:buChar char="•"/>
            </a:pPr>
            <a:r>
              <a:rPr lang="en-US" sz="2800" kern="1200"/>
              <a:t>Reproducible</a:t>
            </a:r>
          </a:p>
          <a:p>
            <a:pPr indent="-285750">
              <a:spcAft>
                <a:spcPts val="600"/>
              </a:spcAft>
              <a:buFont typeface="Arial"/>
              <a:buChar char="•"/>
            </a:pPr>
            <a:r>
              <a:rPr lang="en-US" sz="2800" kern="1200"/>
              <a:t>No local environment issues</a:t>
            </a:r>
          </a:p>
          <a:p>
            <a:pPr indent="-285750">
              <a:spcAft>
                <a:spcPts val="600"/>
              </a:spcAft>
              <a:buFont typeface="Arial"/>
              <a:buChar char="•"/>
            </a:pPr>
            <a:r>
              <a:rPr lang="en-US" sz="2800" kern="1200"/>
              <a:t>Adequate for batch analytics</a:t>
            </a:r>
          </a:p>
          <a:p>
            <a:pPr>
              <a:spcAft>
                <a:spcPts val="600"/>
              </a:spcAft>
            </a:pPr>
            <a:endParaRPr lang="en-US" sz="2800" kern="1200"/>
          </a:p>
        </p:txBody>
      </p:sp>
      <p:pic>
        <p:nvPicPr>
          <p:cNvPr id="41" name="Picture 40" descr="Apache Spark - Wikipedia">
            <a:extLst>
              <a:ext uri="{FF2B5EF4-FFF2-40B4-BE49-F238E27FC236}">
                <a16:creationId xmlns:a16="http://schemas.microsoft.com/office/drawing/2014/main" id="{D59553C5-1039-A62A-38FB-9D43F4B3B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66" y="3597007"/>
            <a:ext cx="5324820" cy="2767070"/>
          </a:xfrm>
          <a:prstGeom prst="rect">
            <a:avLst/>
          </a:prstGeom>
        </p:spPr>
      </p:pic>
      <p:pic>
        <p:nvPicPr>
          <p:cNvPr id="42" name="Picture 41" descr="Google Colab - Wikipedia">
            <a:extLst>
              <a:ext uri="{FF2B5EF4-FFF2-40B4-BE49-F238E27FC236}">
                <a16:creationId xmlns:a16="http://schemas.microsoft.com/office/drawing/2014/main" id="{1402AC8F-1159-8904-8B0E-AD7278F7B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25" y="4037681"/>
            <a:ext cx="4379206" cy="222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6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DE8B-A9BF-C05D-4462-3B77AF62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682B-3E9B-007E-DE20-5F9EEB9C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rmAutofit/>
          </a:bodyPr>
          <a:lstStyle/>
          <a:p>
            <a:r>
              <a:rPr lang="en-GB" b="0"/>
              <a:t>Lakehouse Architecture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77010-3F8E-1C9A-658C-0B1D1221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9" r="4826" b="3"/>
          <a:stretch>
            <a:fillRect/>
          </a:stretch>
        </p:blipFill>
        <p:spPr>
          <a:xfrm>
            <a:off x="1167493" y="2087561"/>
            <a:ext cx="9779182" cy="3366815"/>
          </a:xfrm>
          <a:prstGeom prst="rect">
            <a:avLst/>
          </a:prstGeom>
          <a:noFill/>
        </p:spPr>
      </p:pic>
      <p:sp>
        <p:nvSpPr>
          <p:cNvPr id="38" name="Footer Placeholder 3">
            <a:extLst>
              <a:ext uri="{FF2B5EF4-FFF2-40B4-BE49-F238E27FC236}">
                <a16:creationId xmlns:a16="http://schemas.microsoft.com/office/drawing/2014/main" id="{14182AE4-8A80-F03A-19C2-CCE431EFF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EADA9-8D6C-2428-E2A9-55C5809E9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18498A-EA16-D76A-3344-8D1DEF0AC3B2}"/>
              </a:ext>
            </a:extLst>
          </p:cNvPr>
          <p:cNvSpPr txBox="1"/>
          <p:nvPr/>
        </p:nvSpPr>
        <p:spPr>
          <a:xfrm>
            <a:off x="10365287" y="2901863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C6343F-91A7-8D4D-FC20-3625E61AE410}"/>
              </a:ext>
            </a:extLst>
          </p:cNvPr>
          <p:cNvSpPr txBox="1"/>
          <p:nvPr/>
        </p:nvSpPr>
        <p:spPr>
          <a:xfrm>
            <a:off x="10177397" y="258871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327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BB1C0-7C50-CEB0-CB1E-D831AD9A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61C6DC3-1523-DC85-3CB0-9F027D37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en-GB" b="0"/>
              <a:t>Validation Strategy</a:t>
            </a:r>
            <a:endParaRPr lang="en-US" dirty="0"/>
          </a:p>
        </p:txBody>
      </p:sp>
      <p:sp>
        <p:nvSpPr>
          <p:cNvPr id="42" name="Footer Placeholder 3">
            <a:extLst>
              <a:ext uri="{FF2B5EF4-FFF2-40B4-BE49-F238E27FC236}">
                <a16:creationId xmlns:a16="http://schemas.microsoft.com/office/drawing/2014/main" id="{0CDAD1F5-C58B-9418-5A54-B5A3FC257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66259-3DB3-26ED-4C67-8DB7FB4AC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7</a:t>
            </a:fld>
            <a:endParaRPr lang="en-GB"/>
          </a:p>
        </p:txBody>
      </p:sp>
      <p:graphicFrame>
        <p:nvGraphicFramePr>
          <p:cNvPr id="25" name="Content Placeholder 3">
            <a:extLst>
              <a:ext uri="{FF2B5EF4-FFF2-40B4-BE49-F238E27FC236}">
                <a16:creationId xmlns:a16="http://schemas.microsoft.com/office/drawing/2014/main" id="{A4899687-3A9E-76A6-E174-CB0E9C51A6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783472"/>
              </p:ext>
            </p:extLst>
          </p:nvPr>
        </p:nvGraphicFramePr>
        <p:xfrm>
          <a:off x="1167493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452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BF6F-29C0-3D47-448B-31280B14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8AEB-AC93-D80C-950D-38262A3F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rmAutofit/>
          </a:bodyPr>
          <a:lstStyle/>
          <a:p>
            <a:r>
              <a:rPr lang="en-GB" b="0"/>
              <a:t>Results: Global Trends</a:t>
            </a:r>
            <a:endParaRPr lang="en-US" dirty="0"/>
          </a:p>
        </p:txBody>
      </p:sp>
      <p:pic>
        <p:nvPicPr>
          <p:cNvPr id="70" name="Content Placeholder 69" descr="A graph showing the growth of a video game&#10;&#10;AI-generated content may be incorrect.">
            <a:extLst>
              <a:ext uri="{FF2B5EF4-FFF2-40B4-BE49-F238E27FC236}">
                <a16:creationId xmlns:a16="http://schemas.microsoft.com/office/drawing/2014/main" id="{34D3F86A-A9EE-B04D-920E-FAB2FBEBE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10193" y="2017467"/>
            <a:ext cx="6093782" cy="3366815"/>
          </a:xfrm>
          <a:prstGeom prst="rect">
            <a:avLst/>
          </a:prstGeom>
          <a:noFill/>
        </p:spPr>
      </p:pic>
      <p:sp>
        <p:nvSpPr>
          <p:cNvPr id="77" name="Footer Placeholder 3">
            <a:extLst>
              <a:ext uri="{FF2B5EF4-FFF2-40B4-BE49-F238E27FC236}">
                <a16:creationId xmlns:a16="http://schemas.microsoft.com/office/drawing/2014/main" id="{0817F96A-DD0A-F25D-A1C1-D4BC49CE6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5E729-9634-7DD0-5583-0F2731943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05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DA510-8B60-B7B8-88BC-4D4787DF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92A4C6-87F1-42D9-8AC1-784FF037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en-GB" dirty="0"/>
              <a:t>Platform &amp; Genre Dynamics</a:t>
            </a:r>
            <a:endParaRPr lang="en-US" dirty="0"/>
          </a:p>
          <a:p>
            <a:endParaRPr lang="en-GB" b="0" dirty="0"/>
          </a:p>
        </p:txBody>
      </p:sp>
      <p:pic>
        <p:nvPicPr>
          <p:cNvPr id="10" name="Picture 9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63798844-5A17-6403-7248-D8E08227D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888" b="-3"/>
          <a:stretch>
            <a:fillRect/>
          </a:stretch>
        </p:blipFill>
        <p:spPr>
          <a:xfrm>
            <a:off x="1167491" y="2526318"/>
            <a:ext cx="3218688" cy="2828613"/>
          </a:xfrm>
          <a:prstGeom prst="rect">
            <a:avLst/>
          </a:prstGeom>
          <a:noFill/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6E96AB9-B31F-B8DC-88E0-4BDBC279B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/>
              <a:t>PRESENTATION TITLE</a:t>
            </a:r>
          </a:p>
        </p:txBody>
      </p:sp>
      <p:pic>
        <p:nvPicPr>
          <p:cNvPr id="9" name="Picture 8" descr="A graph of blue rectangular shapes&#10;&#10;AI-generated content may be incorrect.">
            <a:extLst>
              <a:ext uri="{FF2B5EF4-FFF2-40B4-BE49-F238E27FC236}">
                <a16:creationId xmlns:a16="http://schemas.microsoft.com/office/drawing/2014/main" id="{C9A4F68D-3CC8-E1EB-F02C-1337E14D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02" r="17415" b="-1"/>
          <a:stretch>
            <a:fillRect/>
          </a:stretch>
        </p:blipFill>
        <p:spPr>
          <a:xfrm>
            <a:off x="4683787" y="2526318"/>
            <a:ext cx="3173279" cy="2828613"/>
          </a:xfrm>
          <a:prstGeom prst="rect">
            <a:avLst/>
          </a:prstGeom>
          <a:noFill/>
        </p:spPr>
      </p:pic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191FDC9-3B79-B7F3-6515-EFF97C2D469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5"/>
          <a:srcRect l="42497" r="10666" b="1"/>
          <a:stretch>
            <a:fillRect/>
          </a:stretch>
        </p:blipFill>
        <p:spPr>
          <a:xfrm>
            <a:off x="8200082" y="2526318"/>
            <a:ext cx="3173279" cy="2828613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196BA-9CC7-5376-4259-2AD2D04DD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76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28C2AD48-B270-ABB3-E36F-5E11BF9B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en-US" sz="4400" b="0"/>
              <a:t>Comparison with External Industry Graph</a:t>
            </a:r>
            <a:endParaRPr lang="en-US" sz="440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E20F3FCA-A760-F880-E452-CC7CB8B07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634" y="1497280"/>
            <a:ext cx="9776758" cy="4654702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4F725-9A63-8588-CE06-A6D4BA7B3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71FDB8-702D-0257-1463-BA4A3880C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9539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94E9-0A7B-AF58-6106-5EF9F356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Limitations &amp; Trade-offs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9E188-5111-A723-AA19-40B8FD921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No inflation adjustment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Physical sales bias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Platform metadata inconsistency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14EDE-4B05-9E15-8543-69981A98E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A7BE5-4BE3-714B-1CA9-118AD8B8D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301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rmAutofit/>
          </a:bodyPr>
          <a:lstStyle/>
          <a:p>
            <a:pPr rtl="0"/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Widescreen</PresentationFormat>
  <Paragraphs>156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Economic Impact of Video Games: A Big Data Approach Using Global Sales Data</vt:lpstr>
      <vt:lpstr>Context &amp; Objectives</vt:lpstr>
      <vt:lpstr>Literature Review</vt:lpstr>
      <vt:lpstr>Dataset Overview</vt:lpstr>
      <vt:lpstr>Apache Spark and Colab</vt:lpstr>
      <vt:lpstr>Lakehouse Architecture</vt:lpstr>
      <vt:lpstr>Validation Strategy</vt:lpstr>
      <vt:lpstr>Results: Global Trends</vt:lpstr>
      <vt:lpstr>Platform &amp; Genre Dynamics </vt:lpstr>
      <vt:lpstr>Comparison with External Industry Graph</vt:lpstr>
      <vt:lpstr>Limitations &amp; Trade-offs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246</cp:revision>
  <dcterms:created xsi:type="dcterms:W3CDTF">2025-10-27T20:11:35Z</dcterms:created>
  <dcterms:modified xsi:type="dcterms:W3CDTF">2025-12-21T17:14:31Z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